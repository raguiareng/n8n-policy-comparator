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embeddedFontLst>
    <p:embeddedFont>
      <p:font typeface="Quattrocen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3D9D76-B68E-4D56-8C46-30B63C0196CA}">
  <a:tblStyle styleId="{7D3D9D76-B68E-4D56-8C46-30B63C0196C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regular.fntdata"/><Relationship Id="rId14" Type="http://schemas.openxmlformats.org/officeDocument/2006/relationships/slide" Target="slides/slide9.xml"/><Relationship Id="rId17" Type="http://schemas.openxmlformats.org/officeDocument/2006/relationships/font" Target="fonts/QuattrocentoSans-italic.fntdata"/><Relationship Id="rId16" Type="http://schemas.openxmlformats.org/officeDocument/2006/relationships/font" Target="fonts/Quattrocento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Quattrocen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b53690b35b406a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h7b53690b35b406a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h7b53690b35b406a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7b53690b35b406a5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h7b53690b35b406a5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h7b53690b35b406a5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bf690036ace8bb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bf690036ace8bb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hbf690036ace8bb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17232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17232D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457200" y="1097280"/>
            <a:ext cx="8229600" cy="10973"/>
          </a:xfrm>
          <a:prstGeom prst="rect">
            <a:avLst/>
          </a:prstGeom>
          <a:solidFill>
            <a:srgbClr val="4359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57200" y="4754880"/>
            <a:ext cx="8229600" cy="10973"/>
          </a:xfrm>
          <a:prstGeom prst="rect">
            <a:avLst/>
          </a:prstGeom>
          <a:solidFill>
            <a:srgbClr val="4359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GenAI Seguros  •  InsurMinds I2A2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raguiareng.github.io/n8n-policy-comparator/" TargetMode="External"/><Relationship Id="rId4" Type="http://schemas.openxmlformats.org/officeDocument/2006/relationships/hyperlink" Target="https://github.com/RAguiarEng/n8n-policy-compara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57200" y="365760"/>
            <a:ext cx="365760" cy="27432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914400" y="2834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GENAI SEGUROS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457200" y="640080"/>
            <a:ext cx="8229600" cy="10973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457200" y="1293764"/>
            <a:ext cx="5303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Análise e comparação</a:t>
            </a:r>
            <a:endParaRPr b="0" i="0" sz="3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3400"/>
              <a:buFont typeface="Georgia"/>
              <a:buNone/>
            </a:pPr>
            <a:r>
              <a:rPr b="0" i="0" lang="en-US" sz="3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de apólices D&amp;O</a:t>
            </a:r>
            <a:endParaRPr b="0" i="0" sz="3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457200" y="2665364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1500"/>
              <a:buFont typeface="Quattrocento Sans"/>
              <a:buNone/>
            </a:pPr>
            <a:r>
              <a:rPr b="1" i="0" lang="en-US" sz="15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Projeto Final InsurMinds</a:t>
            </a:r>
            <a:endParaRPr b="0" i="0" sz="15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457200" y="2985404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1200"/>
              <a:buFont typeface="Quattrocento Sans"/>
              <a:buNone/>
            </a:pPr>
            <a:r>
              <a:rPr b="0" i="0" lang="en-US" sz="12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OCR, IA generativa e workflows n8n em um MVP funcional.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457200" y="3396883"/>
            <a:ext cx="5303400" cy="64020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457200" y="3396883"/>
            <a:ext cx="54900" cy="64020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640080" y="3424315"/>
            <a:ext cx="5029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00"/>
              <a:buFont typeface="Quattrocento Sans"/>
              <a:buNone/>
            </a:pPr>
            <a:r>
              <a:rPr b="1" i="0" lang="en-US" sz="10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Plataforma para extrair dados estruturados de apólices complexas e permitir consultas e comparações em linguagem natural.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505925" y="1859929"/>
            <a:ext cx="2011800" cy="2559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 txBox="1"/>
          <p:nvPr/>
        </p:nvSpPr>
        <p:spPr>
          <a:xfrm>
            <a:off x="6505925" y="1859929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6"/>
                </a:solidFill>
                <a:latin typeface="Consolas"/>
                <a:ea typeface="Consolas"/>
                <a:cs typeface="Consolas"/>
                <a:sym typeface="Consolas"/>
              </a:rPr>
              <a:t>n8n Low-Code Orchestrator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7054620" y="2554879"/>
            <a:ext cx="1463100" cy="2559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7054620" y="2554879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6"/>
                </a:solidFill>
                <a:latin typeface="Consolas"/>
                <a:ea typeface="Consolas"/>
                <a:cs typeface="Consolas"/>
                <a:sym typeface="Consolas"/>
              </a:rPr>
              <a:t>OCR.space Engine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140233" y="2207401"/>
            <a:ext cx="2377500" cy="2559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140233" y="2207401"/>
            <a:ext cx="237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6"/>
                </a:solidFill>
                <a:latin typeface="Consolas"/>
                <a:ea typeface="Consolas"/>
                <a:cs typeface="Consolas"/>
                <a:sym typeface="Consolas"/>
              </a:rPr>
              <a:t>Modelos Nemotron (OpenRouter)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048730" y="2902351"/>
            <a:ext cx="2469000" cy="2559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6048730" y="2902351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DF2F6"/>
                </a:solidFill>
                <a:latin typeface="Consolas"/>
                <a:ea typeface="Consolas"/>
                <a:cs typeface="Consolas"/>
                <a:sym typeface="Consolas"/>
              </a:rPr>
              <a:t>Oracle Cloud (OCI Self-Hosted)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4754880"/>
            <a:ext cx="8229600" cy="10973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I2A2 • InsurMinds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5486400" y="48006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Quattrocento San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Outubro de 2026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/>
        </p:nvSpPr>
        <p:spPr>
          <a:xfrm>
            <a:off x="457200" y="274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B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FFBB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02. CONTEXTO E DOR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A comparação manual perde tempo e contexto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700"/>
              <a:buFont typeface="Georgia"/>
              <a:buNone/>
            </a:pPr>
            <a:r>
              <a:rPr b="0" i="0" lang="en-US" sz="17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Apólices D&amp;O combinam </a:t>
            </a:r>
            <a:r>
              <a:rPr b="1" i="0" lang="en-US" sz="1700" u="none" cap="none" strike="noStrike">
                <a:solidFill>
                  <a:srgbClr val="ACCCE4"/>
                </a:solidFill>
                <a:latin typeface="Georgia"/>
                <a:ea typeface="Georgia"/>
                <a:cs typeface="Georgia"/>
                <a:sym typeface="Georgia"/>
              </a:rPr>
              <a:t>linguagem técnica</a:t>
            </a:r>
            <a:r>
              <a:rPr b="0" i="0" lang="en-US" sz="17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b="1" i="0" lang="en-US" sz="1700" u="none" cap="none" strike="noStrike">
                <a:solidFill>
                  <a:srgbClr val="ACCCE4"/>
                </a:solidFill>
                <a:latin typeface="Georgia"/>
                <a:ea typeface="Georgia"/>
                <a:cs typeface="Georgia"/>
                <a:sym typeface="Georgia"/>
              </a:rPr>
              <a:t>formatos variados</a:t>
            </a:r>
            <a:r>
              <a:rPr b="0" i="0" lang="en-US" sz="17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 e informações espalhadas por muitas páginas.</a:t>
            </a:r>
            <a:endParaRPr b="0" i="0" sz="17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57200" y="288036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1100"/>
              <a:buFont typeface="Quattrocento Sans"/>
              <a:buNone/>
            </a:pPr>
            <a:r>
              <a:rPr b="0" i="0" lang="en-US" sz="11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analista gasta tempo considerável apenas para localizar períodos de vigência, franquias e limites de indenização antes de conseguir avaliar as coberturas e tomar uma decisão técnica segura.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663440" y="1325880"/>
            <a:ext cx="4023360" cy="749808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663440" y="1325880"/>
            <a:ext cx="54864" cy="749808"/>
          </a:xfrm>
          <a:prstGeom prst="rect">
            <a:avLst/>
          </a:prstGeom>
          <a:solidFill>
            <a:srgbClr val="FFBBB4"/>
          </a:solidFill>
          <a:ln cap="flat" cmpd="sng" w="12700">
            <a:solidFill>
              <a:srgbClr val="FFBB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828032" y="1453896"/>
            <a:ext cx="237744" cy="237744"/>
          </a:xfrm>
          <a:prstGeom prst="ellipse">
            <a:avLst/>
          </a:prstGeom>
          <a:solidFill>
            <a:srgbClr val="FFBBB4"/>
          </a:solidFill>
          <a:ln cap="flat" cmpd="sng" w="12700">
            <a:solidFill>
              <a:srgbClr val="FFBB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828032" y="145389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72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5212080" y="139903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Localizar cláusulas e valores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5212080" y="163677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Limites de indenização, franquias e prazos diluídos em dezenas de páginas não estruturadas.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663440" y="2167128"/>
            <a:ext cx="4023360" cy="749808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663440" y="2167128"/>
            <a:ext cx="54864" cy="749808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828032" y="2295144"/>
            <a:ext cx="237744" cy="237744"/>
          </a:xfrm>
          <a:prstGeom prst="ellipse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4828032" y="229514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72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212080" y="224028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Comparar documentos com estruturas distintas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5212080" y="247802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Cada seguradora organiza condições gerais, particulares e tabelas em layouts e termos proprietários.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663440" y="3008376"/>
            <a:ext cx="4023360" cy="749808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663440" y="3008376"/>
            <a:ext cx="54864" cy="749808"/>
          </a:xfrm>
          <a:prstGeom prst="rect">
            <a:avLst/>
          </a:prstGeom>
          <a:solidFill>
            <a:srgbClr val="A8B9C6"/>
          </a:solidFill>
          <a:ln cap="flat" cmpd="sng" w="12700">
            <a:solidFill>
              <a:srgbClr val="A8B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828032" y="3136392"/>
            <a:ext cx="237744" cy="237744"/>
          </a:xfrm>
          <a:prstGeom prst="ellipse">
            <a:avLst/>
          </a:prstGeom>
          <a:solidFill>
            <a:srgbClr val="A8B9C6"/>
          </a:solidFill>
          <a:ln cap="flat" cmpd="sng" w="12700">
            <a:solidFill>
              <a:srgbClr val="A8B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4828032" y="31363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32D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172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5212080" y="3081528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Registrar lacunas sem falsas conclusões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5212080" y="331927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Diferenciar expressamente o que não está contratado do que simplesmente não foi localizado no documento.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685800" y="4023360"/>
            <a:ext cx="6217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Diretriz do Projeto: </a:t>
            </a:r>
            <a:r>
              <a:rPr b="0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projeto automatiza a organização inicial e mantém a revisão profissional como etapa necessária.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6949440" y="40233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TRIAGEM RESPONSÁVEL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" name="Google Shape;74;p6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457200" y="274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03. FLUXO DE PONTA A PONTA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Um fluxo único do documento à comparação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1371600"/>
            <a:ext cx="1554480" cy="210312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57200" y="1371600"/>
            <a:ext cx="1554480" cy="4572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566928" y="15087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01 • ENVIO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566928" y="17556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Upload de apólices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566928" y="2164080"/>
            <a:ext cx="133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Entrada em PDF ou imagem (JPEG, PNG, TIFF) recebida pelo formulário web.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66928" y="3063240"/>
            <a:ext cx="1335024" cy="7315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566928" y="31272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Google Drive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125980" y="1371600"/>
            <a:ext cx="1554480" cy="210312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125980" y="1371600"/>
            <a:ext cx="1554480" cy="4572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2235708" y="15087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02 • OCR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2235708" y="17556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Extração Visual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2235708" y="2164080"/>
            <a:ext cx="133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Texto bruto extraído página por página e consolidado via JavaScript.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235708" y="3063240"/>
            <a:ext cx="1335024" cy="7315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2235708" y="31272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OCR.space API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3794760" y="1371600"/>
            <a:ext cx="1554480" cy="210312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794760" y="1371600"/>
            <a:ext cx="1554480" cy="4572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3904488" y="15087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03 • ESTRUTURAÇÃO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3904488" y="17556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Cadeia LLM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904488" y="2164080"/>
            <a:ext cx="133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Normalização em JSON rígido com validação e parser de esquema.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904488" y="3063240"/>
            <a:ext cx="1335024" cy="7315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3904488" y="31272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Nemotron / OpenRouter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463540" y="1371600"/>
            <a:ext cx="1554480" cy="210312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63540" y="1371600"/>
            <a:ext cx="1554480" cy="4572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5573268" y="15087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04 • PERSISTÊNCIA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5573268" y="17556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Tabular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5573268" y="2164080"/>
            <a:ext cx="133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Gravação e atualização das apólices usando o nome do arquivo como chave.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573268" y="3063240"/>
            <a:ext cx="1335024" cy="7315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5573268" y="31272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Google Sheets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132320" y="1371600"/>
            <a:ext cx="1554480" cy="210312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132320" y="1371600"/>
            <a:ext cx="1554480" cy="45720"/>
          </a:xfrm>
          <a:prstGeom prst="rect">
            <a:avLst/>
          </a:prstGeom>
          <a:solidFill>
            <a:srgbClr val="EDF2F6"/>
          </a:solidFill>
          <a:ln cap="flat" cmpd="sng" w="12700">
            <a:solidFill>
              <a:srgbClr val="ED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242048" y="150876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05 • CONSULTA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242048" y="17556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Chat Interativo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242048" y="2164080"/>
            <a:ext cx="1335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0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Agente em português para responder dúvidas e comparar apólices processadas.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242048" y="3063240"/>
            <a:ext cx="1335024" cy="7315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242048" y="3127248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@n8n/chat Widget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40080" y="372160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CAMPOS ESTRUTURADOS NO MVP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080" y="3977640"/>
            <a:ext cx="1828800" cy="4572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64008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Seguradora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560320" y="3977640"/>
            <a:ext cx="1828800" cy="4572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256032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Segurado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480560" y="3977640"/>
            <a:ext cx="1828800" cy="4572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448056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 de Indenização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00800" y="3977640"/>
            <a:ext cx="1828800" cy="4572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640080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Vigência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7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457200" y="274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04. ARQUITETURA TÉCNICA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Arquitetura low-code orientada a eventos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135" name="Google Shape;135;p8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{7D3D9D76-B68E-4D56-8C46-30B63C0196CA}</a:tableStyleId>
              </a:tblPr>
              <a:tblGrid>
                <a:gridCol w="1554475"/>
                <a:gridCol w="2560325"/>
                <a:gridCol w="41148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DF2F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CAMADA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DF2F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TECNOLOGIA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EDF2F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RESPONSABILIDADE NO SISTEMA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DF2F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1. Interface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CCCE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ACCC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GitHub Pages, HTML, CSS e JS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CD5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C0CCD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Apresentar o produto, encaminhar o upload e renderizar o chat.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DF2F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 Orquestração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CCCE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ACCC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n8n self-hosted na OCI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CD5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C0CCD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Executar os 3 workflows de automação e integrar os serviços.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DF2F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 Documentos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CCCE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ACCC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Google Drive e OCR.space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CD5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C0CCD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Armazenar os arquivos de entrada e extrair o texto de cada página.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DF2F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4. IA Generativa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CCCE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ACCC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OpenRouter e Nemotron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CD5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C0CCD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Estruturar os dados em JSON e formular respostas com base na base.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333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DF2F6"/>
                        </a:buClr>
                        <a:buSzPts val="1000"/>
                        <a:buFont typeface="Quattrocento San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EDF2F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5. Dados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CCCE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cap="none" strike="noStrike">
                          <a:solidFill>
                            <a:srgbClr val="ACCC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Google Sheets</a:t>
                      </a:r>
                      <a:endParaRPr sz="9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CCD5"/>
                        </a:buClr>
                        <a:buSzPts val="1000"/>
                        <a:buFont typeface="Quattrocento Sans"/>
                        <a:buNone/>
                      </a:pPr>
                      <a:r>
                        <a:rPr lang="en-US" sz="1000" u="none" cap="none" strike="noStrike">
                          <a:solidFill>
                            <a:srgbClr val="C0CCD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Manter a base relacional/tabular consultada pelo agente durante o chat.</a:t>
                      </a:r>
                      <a:endParaRPr sz="10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91450" marL="91450" anchor="ctr">
                    <a:lnL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359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C38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8"/>
          <p:cNvSpPr/>
          <p:nvPr/>
        </p:nvSpPr>
        <p:spPr>
          <a:xfrm>
            <a:off x="457200" y="3886200"/>
            <a:ext cx="4023360" cy="73152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94360" y="388620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Mensagem de Destaque: 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Três workflows independentes separam upload, ingestão e consulta, viabilizando evolução modular.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663440" y="3886200"/>
            <a:ext cx="4023360" cy="73152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4800600" y="388620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Observação Técnica: 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Credenciais protegidas no cofre do n8n. Instância self-hosted na Oracle Cloud (OCI, não-serverless).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0" name="Google Shape;140;p8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/>
        </p:nvSpPr>
        <p:spPr>
          <a:xfrm>
            <a:off x="457200" y="27432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 1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457200" y="4754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Ingestão e estruturação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57200" y="1325880"/>
            <a:ext cx="5029200" cy="2651700"/>
          </a:xfrm>
          <a:prstGeom prst="rect">
            <a:avLst/>
          </a:prstGeom>
          <a:solidFill>
            <a:srgbClr val="141419"/>
          </a:solidFill>
          <a:ln cap="flat" cmpd="sng" w="9525">
            <a:solidFill>
              <a:srgbClr val="2D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594360" y="1474747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B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9A9AB0"/>
                </a:solidFill>
                <a:latin typeface="Consolas"/>
                <a:ea typeface="Consolas"/>
                <a:cs typeface="Consolas"/>
                <a:sym typeface="Consolas"/>
              </a:rPr>
              <a:t>n8n Canvas • Workflow 1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594360" y="3520440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B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9A9AB0"/>
                </a:solidFill>
                <a:latin typeface="Consolas"/>
                <a:ea typeface="Consolas"/>
                <a:cs typeface="Consolas"/>
                <a:sym typeface="Consolas"/>
              </a:rPr>
              <a:t>OpenRouter Model (Nemotron) + Structured Output Parser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669280" y="1325880"/>
            <a:ext cx="3017400" cy="26517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5806440" y="1417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ETAPAS RESUMIDAS DO PIPELINE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5806440" y="1691640"/>
            <a:ext cx="22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6035040" y="1691640"/>
            <a:ext cx="2560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Drive detecta o arquivo: </a:t>
            </a: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Polling na pasta a cada 5 min (PDF, JPEG, PNG, TIFF).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5806440" y="2258568"/>
            <a:ext cx="22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6035040" y="2258568"/>
            <a:ext cx="2560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OCR converte as páginas: </a:t>
            </a: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OCR.space extrai o texto e nó JS concatena o conteúdo.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5806440" y="2825496"/>
            <a:ext cx="22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6035040" y="2825496"/>
            <a:ext cx="2560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devolve JSON validado: </a:t>
            </a: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Nemotron 120B extrai os 4 campos sob schema estrito.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806440" y="3392424"/>
            <a:ext cx="228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50"/>
              <a:buFont typeface="Quattrocento Sans"/>
              <a:buNone/>
            </a:pPr>
            <a:r>
              <a:rPr b="1" i="0" lang="en-US" sz="95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6035040" y="3392424"/>
            <a:ext cx="2560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Sheets adiciona ou atualiza: </a:t>
            </a: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Upsert na planilha usando o nome do arquivo como chave única.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57200" y="4114800"/>
            <a:ext cx="8229600" cy="54870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4114800"/>
            <a:ext cx="54900" cy="54870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685800" y="4114800"/>
            <a:ext cx="6035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 de Confiabilidade: </a:t>
            </a:r>
            <a:r>
              <a:rPr b="0" i="0" lang="en-US" sz="9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Temperatura zero, saída JSON validada e a regra estrita “Não encontrado” reduzem variações e explicitam lacunas.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6766560" y="4114800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nvidia/nemotron-3-super-120b</a:t>
            </a:r>
            <a:endParaRPr b="0" i="0" sz="7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p9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66" name="Google Shape;166;p9" title="workflow01_p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50" y="1984915"/>
            <a:ext cx="4755000" cy="1123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/>
        </p:nvSpPr>
        <p:spPr>
          <a:xfrm>
            <a:off x="457200" y="27432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06. EXPERIÊNCIA DO USUÁRIO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457200" y="4754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Upload simples e comparação em linguagem natural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1280160"/>
            <a:ext cx="4023300" cy="30174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594360" y="137160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5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Upload (Workflow 3)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429000" y="1399032"/>
            <a:ext cx="914400" cy="21960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429000" y="1399032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Front-End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94350" y="1737345"/>
            <a:ext cx="3749100" cy="1541100"/>
          </a:xfrm>
          <a:prstGeom prst="rect">
            <a:avLst/>
          </a:prstGeom>
          <a:solidFill>
            <a:srgbClr val="171717"/>
          </a:solidFill>
          <a:ln cap="flat" cmpd="sng" w="9525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594360" y="3383280"/>
            <a:ext cx="374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formulário aceita múltiplos arquivos e envia cada item para a pasta de entrada com tratamento de lote assíncrono.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94360" y="3840480"/>
            <a:ext cx="3749100" cy="7200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594360" y="3913632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Suporte: PDF, JPEG, PNG e TIFF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663440" y="1280160"/>
            <a:ext cx="4023300" cy="30174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4800600" y="137160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5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Assistente (Workflow 2)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7635240" y="1399032"/>
            <a:ext cx="914400" cy="21960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7635240" y="1399032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Agente de IA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800595" y="1737345"/>
            <a:ext cx="3749100" cy="1541100"/>
          </a:xfrm>
          <a:prstGeom prst="rect">
            <a:avLst/>
          </a:prstGeom>
          <a:solidFill>
            <a:srgbClr val="171717"/>
          </a:solidFill>
          <a:ln cap="flat" cmpd="sng" w="9525">
            <a:solidFill>
              <a:srgbClr val="1717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4800600" y="3383280"/>
            <a:ext cx="374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9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agente consulta a planilha antes de responder e compara limites e vigências já processados, utilizando memória multi-turno.</a:t>
            </a:r>
            <a:endParaRPr b="0" i="0" sz="9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800600" y="3840480"/>
            <a:ext cx="3749100" cy="7200"/>
          </a:xfrm>
          <a:prstGeom prst="rect">
            <a:avLst/>
          </a:prstGeom>
          <a:solidFill>
            <a:srgbClr val="435967"/>
          </a:solidFill>
          <a:ln cap="flat" cmpd="sng" w="12700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4800600" y="3913632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Modelo: Nemotron-3.5-lightning via OpenRouter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457200" y="4465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850"/>
              <a:buFont typeface="Quattrocento Sans"/>
              <a:buNone/>
            </a:pPr>
            <a:r>
              <a:rPr b="0" i="1" lang="en-US" sz="85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 O agente não lê o PDF original durante a conversa: ele opera rigorosamente sobre os campos previamente extraídos na base tabular.</a:t>
            </a:r>
            <a:endParaRPr b="0" i="0" sz="8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10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2" name="Google Shape;192;p10" title="workflow03_p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499" y="1866275"/>
            <a:ext cx="3036813" cy="12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 title="workflow02_pt (2).png"/>
          <p:cNvPicPr preferRelativeResize="0"/>
          <p:nvPr/>
        </p:nvPicPr>
        <p:blipFill rotWithShape="1">
          <a:blip r:embed="rId4">
            <a:alphaModFix/>
          </a:blip>
          <a:srcRect b="0" l="0" r="0" t="10346"/>
          <a:stretch/>
        </p:blipFill>
        <p:spPr>
          <a:xfrm>
            <a:off x="5556822" y="1730408"/>
            <a:ext cx="2236560" cy="15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/>
        </p:nvSpPr>
        <p:spPr>
          <a:xfrm>
            <a:off x="457200" y="274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07. RIGOR TÉCNICO E TRANSPARÊNCIA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Confiabilidade e limites do MVP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57200" y="1280160"/>
            <a:ext cx="4023360" cy="265176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57200" y="1280160"/>
            <a:ext cx="54864" cy="2651760"/>
          </a:xfrm>
          <a:prstGeom prst="rect">
            <a:avLst/>
          </a:prstGeom>
          <a:solidFill>
            <a:srgbClr val="529B65"/>
          </a:solidFill>
          <a:ln cap="flat" cmpd="sng" w="12700">
            <a:solidFill>
              <a:srgbClr val="529B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2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Controles Implementados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685800" y="17830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B65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529B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960120" y="178308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Filtro de formatos aceitos: </a:t>
            </a: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restringe a extensão no gatilho.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685800" y="2203704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B65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529B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960120" y="2203704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Saída estruturada com parser JSON: </a:t>
            </a: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 campos estritos.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685800" y="2624328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B65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529B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960120" y="262432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Consulta obrigatória à base: </a:t>
            </a: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força Tool Calling antes de responder.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685800" y="3044952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B65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529B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960120" y="3044952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Regra para indicar dados não encontrados: </a:t>
            </a: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impede inferências falsas.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685800" y="3465576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B65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529B6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960120" y="3465576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9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Aviso de revisão profissional: </a:t>
            </a: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disclaimer claro na interface.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663440" y="1280160"/>
            <a:ext cx="4023360" cy="265176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663440" y="1280160"/>
            <a:ext cx="54864" cy="2651760"/>
          </a:xfrm>
          <a:prstGeom prst="rect">
            <a:avLst/>
          </a:prstGeom>
          <a:solidFill>
            <a:srgbClr val="FFBBB4"/>
          </a:solidFill>
          <a:ln cap="flat" cmpd="sng" w="12700">
            <a:solidFill>
              <a:srgbClr val="FFBB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2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Limites Atuais do MVP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4892040" y="17830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B4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BB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5166360" y="178308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OCR gratuito e polling a cada 5 minutos (não instantâneo).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4892040" y="2203704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B4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BB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5166360" y="2203704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Apenas quatro campos estruturados no esquema inicial.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4892040" y="2624328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B4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BB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5166360" y="2624328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Ausência de citação do trecho-fonte e número da página.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892040" y="3044952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B4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BB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5166360" y="3044952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Valores e vigências armazenados como texto (sem tipagem financeira).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4892040" y="3465576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BB4"/>
              </a:buClr>
              <a:buSzPts val="1100"/>
              <a:buFont typeface="Quattrocento Sans"/>
              <a:buNone/>
            </a:pPr>
            <a:r>
              <a:rPr b="1" i="0" lang="en-US" sz="1100" u="none" cap="none" strike="noStrike">
                <a:solidFill>
                  <a:srgbClr val="FFBBB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5166360" y="3465576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autenticação do usuário final e sem dataset de precisão medido.</a:t>
            </a:r>
            <a:endParaRPr b="0" i="0" sz="105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22333F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57200" y="4069080"/>
            <a:ext cx="54864" cy="59436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“As respostas apoiam a análise. O texto oficial da apólice continua sendo a referência.”</a:t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11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/>
        </p:nvSpPr>
        <p:spPr>
          <a:xfrm>
            <a:off x="457200" y="27432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i="0" lang="en-US" sz="900" u="none" cap="none" strike="noStrike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PRÓXIMOS PASSOS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b="0" i="0" lang="en-US" sz="2400" u="none" cap="none" strike="noStrike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Uma base funcional para evoluir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57200" y="1859280"/>
            <a:ext cx="1920300" cy="18288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457200" y="1859280"/>
            <a:ext cx="1920300" cy="4560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594360" y="2014728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01. EVIDÊNCIAS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594360" y="227076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Rastreabilidade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594360" y="2773680"/>
            <a:ext cx="1645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Armazenar trecho-fonte, página de origem e nível de confiança da extração.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2560320" y="1859280"/>
            <a:ext cx="1920300" cy="18288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560320" y="1859280"/>
            <a:ext cx="1920300" cy="4560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2697480" y="2014728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02. COBERTURA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2697480" y="227076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Expansão de Domínio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2697480" y="2773680"/>
            <a:ext cx="1645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Extrair cláusulas completas, exclusões, franquias e sublimites contratuais.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663440" y="1859280"/>
            <a:ext cx="1920300" cy="18288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663440" y="1859280"/>
            <a:ext cx="1920300" cy="4560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4800600" y="2014728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03. OPERAÇÃO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4800600" y="227076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Escalabilidade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4800600" y="2773680"/>
            <a:ext cx="1645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Adicionar filas, retentativas automatizadas, status em tempo real e testes de regressão.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766560" y="1859280"/>
            <a:ext cx="1920300" cy="1828800"/>
          </a:xfrm>
          <a:prstGeom prst="rect">
            <a:avLst/>
          </a:prstGeom>
          <a:solidFill>
            <a:srgbClr val="1D2C38"/>
          </a:solidFill>
          <a:ln cap="flat" cmpd="sng" w="95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766560" y="1859280"/>
            <a:ext cx="1920300" cy="45600"/>
          </a:xfrm>
          <a:prstGeom prst="rect">
            <a:avLst/>
          </a:prstGeom>
          <a:solidFill>
            <a:srgbClr val="ACCCE4"/>
          </a:solidFill>
          <a:ln cap="flat" cmpd="sng" w="12700">
            <a:solidFill>
              <a:srgbClr val="ACCC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903720" y="2014728"/>
            <a:ext cx="1645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04. SEGURANÇA</a:t>
            </a:r>
            <a:endParaRPr b="0" i="0" sz="8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6903720" y="227076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00"/>
              <a:buFont typeface="Quattrocento Sans"/>
              <a:buNone/>
            </a:pPr>
            <a:r>
              <a:rPr b="1" i="0" lang="en-US" sz="12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Conformidade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6903720" y="2773680"/>
            <a:ext cx="1645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CCD5"/>
              </a:buClr>
              <a:buSzPts val="950"/>
              <a:buFont typeface="Quattrocento Sans"/>
              <a:buNone/>
            </a:pPr>
            <a:r>
              <a:rPr b="0" i="0" lang="en-US" sz="1000" u="none" cap="none" strike="noStrike">
                <a:solidFill>
                  <a:srgbClr val="C0CC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Implementar autenticação RBAC, segregação de dados e retenção compatível com a LGPD.</a:t>
            </a:r>
            <a:endParaRPr b="0" i="0" sz="1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8" name="Google Shape;258;p12"/>
          <p:cNvSpPr txBox="1"/>
          <p:nvPr>
            <p:ph idx="4294967295" type="sldNum"/>
          </p:nvPr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A8B9C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A8B9C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/>
        </p:nvSpPr>
        <p:spPr>
          <a:xfrm>
            <a:off x="533129" y="2226024"/>
            <a:ext cx="4788600" cy="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666"/>
              <a:buFont typeface="Consolas"/>
              <a:buNone/>
            </a:pPr>
            <a:r>
              <a:rPr b="0" i="0" lang="en-US" sz="866" u="none" cap="none" strike="noStrike">
                <a:solidFill>
                  <a:srgbClr val="A8B9C6"/>
                </a:solidFill>
                <a:latin typeface="Consolas"/>
                <a:ea typeface="Consolas"/>
                <a:cs typeface="Consolas"/>
                <a:sym typeface="Consolas"/>
              </a:rPr>
              <a:t>INTEGRANTES DO PROJETO — INSURMINDS (I2A2)</a:t>
            </a:r>
            <a:endParaRPr b="0" i="0" sz="86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894225" y="1506750"/>
            <a:ext cx="3792600" cy="2224200"/>
          </a:xfrm>
          <a:prstGeom prst="roundRect">
            <a:avLst>
              <a:gd fmla="val 2647" name="adj"/>
            </a:avLst>
          </a:prstGeom>
          <a:solidFill>
            <a:srgbClr val="1D2C38"/>
          </a:solidFill>
          <a:ln cap="flat" cmpd="sng" w="80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000" lIns="77000" spcFirstLastPara="1" rIns="77000" wrap="square" tIns="7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 txBox="1"/>
          <p:nvPr/>
        </p:nvSpPr>
        <p:spPr>
          <a:xfrm>
            <a:off x="5094823" y="1707349"/>
            <a:ext cx="34557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758"/>
              <a:buFont typeface="Consolas"/>
              <a:buNone/>
            </a:pPr>
            <a:r>
              <a:rPr b="1" i="0" lang="en-US" sz="858" u="none" cap="none" strike="noStrike">
                <a:solidFill>
                  <a:srgbClr val="ACCCE4"/>
                </a:solidFill>
                <a:latin typeface="Consolas"/>
                <a:ea typeface="Consolas"/>
                <a:cs typeface="Consolas"/>
                <a:sym typeface="Consolas"/>
              </a:rPr>
              <a:t>AMBIENTES &amp; REPOSITÓRIO</a:t>
            </a:r>
            <a:endParaRPr b="0" i="0" sz="8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5094823" y="1899924"/>
            <a:ext cx="3455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37"/>
              <a:buFont typeface="Quattrocento Sans"/>
              <a:buNone/>
            </a:pPr>
            <a:r>
              <a:rPr b="1" i="0" lang="en-US" sz="1237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Acesse a Demonstração Online</a:t>
            </a:r>
            <a:endParaRPr b="0" i="0" sz="12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094823" y="2252978"/>
            <a:ext cx="3391500" cy="337200"/>
          </a:xfrm>
          <a:prstGeom prst="roundRect">
            <a:avLst>
              <a:gd fmla="val 19048" name="adj"/>
            </a:avLst>
          </a:prstGeom>
          <a:solidFill>
            <a:srgbClr val="22333F"/>
          </a:solidFill>
          <a:ln cap="flat" cmpd="sng" w="80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000" lIns="77000" spcFirstLastPara="1" rIns="77000" wrap="square" tIns="7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 txBox="1"/>
          <p:nvPr/>
        </p:nvSpPr>
        <p:spPr>
          <a:xfrm>
            <a:off x="5199135" y="2357289"/>
            <a:ext cx="1842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758"/>
              <a:buFont typeface="Quattrocento Sans"/>
              <a:buNone/>
            </a:pPr>
            <a:r>
              <a:rPr b="0" i="0" lang="en-US" sz="758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 b="0" i="0" sz="7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5383685" y="2350897"/>
            <a:ext cx="6957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758"/>
              <a:buFont typeface="Quattrocento Sans"/>
              <a:buNone/>
            </a:pPr>
            <a:r>
              <a:rPr b="1" i="0" lang="en-US" sz="858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Web App</a:t>
            </a:r>
            <a:endParaRPr b="0" i="0" sz="8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7115348" y="2350907"/>
            <a:ext cx="13305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632"/>
              <a:buFont typeface="Consolas"/>
              <a:buNone/>
            </a:pPr>
            <a:r>
              <a:rPr b="0" i="0" lang="en-US" sz="732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raguiareng.github.io ↗</a:t>
            </a:r>
            <a:endParaRPr b="0" i="0" sz="7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094823" y="2686271"/>
            <a:ext cx="3391500" cy="337200"/>
          </a:xfrm>
          <a:prstGeom prst="roundRect">
            <a:avLst>
              <a:gd fmla="val 19048" name="adj"/>
            </a:avLst>
          </a:prstGeom>
          <a:solidFill>
            <a:srgbClr val="22333F"/>
          </a:solidFill>
          <a:ln cap="flat" cmpd="sng" w="8025">
            <a:solidFill>
              <a:srgbClr val="4359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000" lIns="77000" spcFirstLastPara="1" rIns="77000" wrap="square" tIns="7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5199135" y="2790583"/>
            <a:ext cx="1842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758"/>
              <a:buFont typeface="Quattrocento Sans"/>
              <a:buNone/>
            </a:pPr>
            <a:r>
              <a:rPr b="0" i="0" lang="en-US" sz="758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💻</a:t>
            </a:r>
            <a:endParaRPr b="0" i="0" sz="7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5383685" y="2784190"/>
            <a:ext cx="9468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758"/>
              <a:buFont typeface="Quattrocento Sans"/>
              <a:buNone/>
            </a:pPr>
            <a:r>
              <a:rPr b="1" i="0" lang="en-US" sz="858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Repositório GitHub</a:t>
            </a:r>
            <a:endParaRPr b="0" i="0" sz="8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 txBox="1"/>
          <p:nvPr/>
        </p:nvSpPr>
        <p:spPr>
          <a:xfrm>
            <a:off x="7001198" y="2784187"/>
            <a:ext cx="14448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8B9C6"/>
              </a:buClr>
              <a:buSzPts val="632"/>
              <a:buFont typeface="Consolas"/>
              <a:buNone/>
            </a:pPr>
            <a:r>
              <a:rPr b="0" i="0" lang="en-US" sz="732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/n8n-policy-comparator ↗</a:t>
            </a:r>
            <a:endParaRPr b="0" i="0" sz="7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5062725" y="3255787"/>
            <a:ext cx="3455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758"/>
              <a:buFont typeface="Quattrocento Sans"/>
              <a:buNone/>
            </a:pPr>
            <a:r>
              <a:rPr b="1" i="0" lang="en-US" sz="1358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Obrigado! </a:t>
            </a:r>
            <a:endParaRPr b="0" i="0" sz="135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533125" y="2515050"/>
            <a:ext cx="436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Bruno Corrêa  •  Jhiovana Silva Ribeiro  •  Luis R. G. Pereira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1100"/>
              <a:buFont typeface="Quattrocento Sans"/>
              <a:buNone/>
            </a:pPr>
            <a:r>
              <a:rPr b="1" i="0" lang="en-US" sz="1300" u="none" cap="none" strike="noStrike">
                <a:solidFill>
                  <a:srgbClr val="EDF2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Rodrigo Medeiros Costa  •  Rodrigo Souza Aguiar</a:t>
            </a:r>
            <a:endParaRPr b="0" i="0" sz="13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457200" y="274320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CCCE4"/>
              </a:buClr>
              <a:buSzPts val="900"/>
              <a:buFont typeface="Quattrocento Sans"/>
              <a:buNone/>
            </a:pPr>
            <a:r>
              <a:rPr b="1" lang="en-US" sz="900">
                <a:solidFill>
                  <a:srgbClr val="ACCCE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EQUIPE &amp; DEMONSTRAÇÕES</a:t>
            </a:r>
            <a:endParaRPr b="0" i="0" sz="9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457200" y="4754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6"/>
              </a:buClr>
              <a:buSzPts val="2400"/>
              <a:buFont typeface="Georgia"/>
              <a:buNone/>
            </a:pPr>
            <a:r>
              <a:rPr lang="en-US" sz="2400">
                <a:solidFill>
                  <a:srgbClr val="EDF2F6"/>
                </a:solidFill>
                <a:latin typeface="Georgia"/>
                <a:ea typeface="Georgia"/>
                <a:cs typeface="Georgia"/>
                <a:sym typeface="Georgia"/>
              </a:rPr>
              <a:t>GenAI Seguros</a:t>
            </a:r>
            <a:endParaRPr b="0" i="0" sz="2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AI Seguros">
  <a:themeElements>
    <a:clrScheme name="GenAI Seguros">
      <a:dk1>
        <a:srgbClr val="EDF2F6"/>
      </a:dk1>
      <a:lt1>
        <a:srgbClr val="17232D"/>
      </a:lt1>
      <a:dk2>
        <a:srgbClr val="C0CCD5"/>
      </a:dk2>
      <a:lt2>
        <a:srgbClr val="1D2C38"/>
      </a:lt2>
      <a:accent1>
        <a:srgbClr val="ACCCE4"/>
      </a:accent1>
      <a:accent2>
        <a:srgbClr val="FFBBB4"/>
      </a:accent2>
      <a:accent3>
        <a:srgbClr val="A8B9C6"/>
      </a:accent3>
      <a:accent4>
        <a:srgbClr val="435967"/>
      </a:accent4>
      <a:accent5>
        <a:srgbClr val="22333F"/>
      </a:accent5>
      <a:accent6>
        <a:srgbClr val="529B65"/>
      </a:accent6>
      <a:hlink>
        <a:srgbClr val="ACCCE4"/>
      </a:hlink>
      <a:folHlink>
        <a:srgbClr val="A8B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AI Seguros">
  <a:themeElements>
    <a:clrScheme name="GenAI Seguros">
      <a:dk1>
        <a:srgbClr val="EDF2F6"/>
      </a:dk1>
      <a:lt1>
        <a:srgbClr val="17232D"/>
      </a:lt1>
      <a:dk2>
        <a:srgbClr val="C0CCD5"/>
      </a:dk2>
      <a:lt2>
        <a:srgbClr val="1D2C38"/>
      </a:lt2>
      <a:accent1>
        <a:srgbClr val="ACCCE4"/>
      </a:accent1>
      <a:accent2>
        <a:srgbClr val="FFBBB4"/>
      </a:accent2>
      <a:accent3>
        <a:srgbClr val="A8B9C6"/>
      </a:accent3>
      <a:accent4>
        <a:srgbClr val="435967"/>
      </a:accent4>
      <a:accent5>
        <a:srgbClr val="22333F"/>
      </a:accent5>
      <a:accent6>
        <a:srgbClr val="529B65"/>
      </a:accent6>
      <a:hlink>
        <a:srgbClr val="ACCCE4"/>
      </a:hlink>
      <a:folHlink>
        <a:srgbClr val="A8B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